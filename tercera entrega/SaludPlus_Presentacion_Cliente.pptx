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Abrir como si el profesor fuera el cliente: “Hoy presentamos SaludPlus, una solución backend para que una clínica pueda gestionar sus procesos principales en un solo ecosistema, ordenado y preparado para crecer.”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Explicar el dolor del cliente, no partir hablando del código. La idea es que la clínica pueda seguir el proceso completo: desde el registro del paciente hasta la notificación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Vender la idea: no es solo una lista de endpoints; es una arquitectura pensada para que cada área de la clínica tenga su propio módulo y pueda crecer sin afectar a las demás.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Presentar los roles como cliente: paciente, administración, médico y farmacia. Aclarar que el proyecto actual es backend, por eso se muestra como API que puede alimentar una app web o móvil.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No decir “cumple la rúbrica”, decir “este es el alcance funcional que ofrecemos”. Si preguntan por el código, cada módulo está separado como servicio Spring Boot con su propia responsabilidad.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Contar el caso como una historia. Por ejemplo: un paciente se registra, toma una hora, se atiende, queda registro en ficha, paga y recibe notificación.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Explicar simple: el cliente no llama a todos los módulos por separado; entra por el Gateway. Por dentro, cada servicio cumple una responsabilidad y tiene sus endpoints.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Esta diapositiva baja lo técnico a beneficio: JPA y MySQL no se explican como teoría, sino como garantía de persistencia real. JWT como control de acceso y Swagger como manual técnico de la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Cuando presentes esto al cliente, no nombres cada endpoint uno por uno. Agrúpalos por beneficio: registro, consulta, actualización y eliminación controlada.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Esta es la parte técnica pero enfocada al cliente. CSR significa que el proyecto es más fácil de mantener y no queda todo mezclado.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Como el profe actúa como cliente, esta slide sirve para decir “no solo lo diseñamos, también tenemos evidencia de que se puede revisar y probar”.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Ser honesto y profesional: presentar lo implementado y dejar claro cómo crecería la solución. Si preguntan por los 10 microservicios de la pauta, explicar que el repo muestra 8 módulos de negocio + Gateway y que las extensiones recomendadas son auth-service y reportes-service.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Cierre simple: repetir beneficio principal y abrir preguntas. No terminar con “eso sería”, sino con seguridad: “Con esto, SaludPlus entrega una base backend ordenada para digitalizar el flujo clínico”.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sugerido:
Esta no tiene que presentarse si no alcanza el tiempo. Es respaldo para cuando el profesor, actuando como cliente, pida ver que el producto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side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55080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13232" y="713232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123B54"/>
          </a:solidFill>
          <a:ln w="12700">
            <a:solidFill>
              <a:srgbClr val="123B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6384" y="809244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EAF0"/>
                </a:solidFill>
              </a:rPr>
              <a:t>Presentación del proyecto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138988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SaludPlus</a:t>
            </a:r>
            <a:endParaRPr lang="en-US" sz="4700" dirty="0"/>
          </a:p>
        </p:txBody>
      </p:sp>
      <p:sp>
        <p:nvSpPr>
          <p:cNvPr id="7" name="Text 4"/>
          <p:cNvSpPr/>
          <p:nvPr/>
        </p:nvSpPr>
        <p:spPr>
          <a:xfrm>
            <a:off x="758952" y="221284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DECF6"/>
                </a:solidFill>
              </a:rPr>
              <a:t>Sistema backend para gestión clínica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58952" y="2944368"/>
            <a:ext cx="42062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7FB"/>
                </a:solidFill>
              </a:rPr>
              <a:t>Una plataforma API RESTful para ordenar pacientes, médicos, citas, atenciones, fichas, pagos, farmacia y notificaciones desde una arquitectura distribuida.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" y="60533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6C5"/>
                </a:solidFill>
              </a:rPr>
              <a:t>Equipo de desarrollo · DSY1103 Desarrollo FullStack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8592" y="51663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C94"/>
                </a:solidFill>
              </a:rPr>
              <a:t>01 · Necesidad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2062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que resolvemos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93268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La clínica necesita menos procesos aislados y más continuidad entre áreas.</a:t>
            </a:r>
            <a:endParaRPr lang="en-US" sz="1250" dirty="0"/>
          </a:p>
        </p:txBody>
      </p:sp>
      <p:pic>
        <p:nvPicPr>
          <p:cNvPr id="6" name="Image 0" descr="/mnt/data/journey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508760"/>
            <a:ext cx="484632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508760"/>
            <a:ext cx="46634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E7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7739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Situación actual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05840" y="2331720"/>
            <a:ext cx="4069080" cy="2606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50" dirty="0">
                <a:solidFill>
                  <a:srgbClr val="0B1F33"/>
                </a:solidFill>
              </a:rPr>
              <a:t>Datos de pacientes dispersos o repetidos.</a:t>
            </a:r>
            <a:endParaRPr lang="en-US" sz="1350" dirty="0"/>
          </a:p>
          <a:p>
            <a:r>
              <a:rPr lang="en-US" sz="1350" dirty="0">
                <a:solidFill>
                  <a:srgbClr val="0B1F33"/>
                </a:solidFill>
              </a:rPr>
              <a:t>Agendamiento y atención médica sin una trazabilidad única.</a:t>
            </a:r>
            <a:endParaRPr lang="en-US" sz="1350" dirty="0"/>
          </a:p>
          <a:p>
            <a:r>
              <a:rPr lang="en-US" sz="1350" dirty="0">
                <a:solidFill>
                  <a:srgbClr val="0B1F33"/>
                </a:solidFill>
              </a:rPr>
              <a:t>Farmacia, pagos y notificaciones funcionan como procesos separados.</a:t>
            </a:r>
            <a:endParaRPr lang="en-US" sz="1350" dirty="0"/>
          </a:p>
          <a:p>
            <a:r>
              <a:rPr lang="en-US" sz="1350" dirty="0">
                <a:solidFill>
                  <a:srgbClr val="0B1F33"/>
                </a:solidFill>
              </a:rPr>
              <a:t>Cuesta escalar el sistema cuando crecen las áreas de la clínica.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60120" y="51389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6C94"/>
                </a:solidFill>
              </a:rPr>
              <a:t>SaludPlus centraliza el flujo clínico mediante servicios especializados que se comunican por API.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9525">
            <a:solidFill>
              <a:srgbClr val="D4E5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4710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SaludPlus · Sistema de Gestión Clínica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13739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8592" y="51663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C94"/>
                </a:solidFill>
              </a:rPr>
              <a:t>02 · Propuesta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2062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Nuestra propuesta de solución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93268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Un backend clínico modular, documentado y preparado para integrarse con otros sistemas.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3108960" cy="3108960"/>
          </a:xfrm>
          <a:prstGeom prst="arc">
            <a:avLst/>
          </a:prstGeom>
          <a:noFill/>
          <a:ln w="228600">
            <a:solidFill>
              <a:srgbClr val="BFEAF0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8448" y="1938528"/>
            <a:ext cx="2240280" cy="22402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4E7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2578608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6C94"/>
                </a:solidFill>
              </a:rPr>
              <a:t>API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46C94"/>
                </a:solidFill>
              </a:rPr>
              <a:t>central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1508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46C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4572000" y="20391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</a:rPr>
              <a:t>módulos de negocio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2057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758A"/>
                </a:solidFill>
              </a:rPr>
              <a:t>Pacientes, médicos, citas y procesos clínicos.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0" y="1508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46C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6858000" y="20391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</a:rPr>
              <a:t>gateway unificado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0" y="2377440"/>
            <a:ext cx="2057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758A"/>
                </a:solidFill>
              </a:rPr>
              <a:t>Entrada común para consumir la solución.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0" y="1508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46C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9144000" y="20391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</a:rPr>
              <a:t>integración estándar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0" y="2377440"/>
            <a:ext cx="2057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758A"/>
                </a:solidFill>
              </a:rPr>
              <a:t>Endpoints claros y respuestas JSON.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4160520"/>
            <a:ext cx="6537960" cy="914400"/>
          </a:xfrm>
          <a:prstGeom prst="roundRect">
            <a:avLst>
              <a:gd name="adj" fmla="val 8000"/>
            </a:avLst>
          </a:prstGeom>
          <a:solidFill>
            <a:srgbClr val="ECF8F9"/>
          </a:solidFill>
          <a:ln w="12700">
            <a:solidFill>
              <a:srgbClr val="CB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4425696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0B1F33"/>
                </a:solidFill>
              </a:rPr>
              <a:t>Beneficio para el cliente: cada área puede evolucionar sin romper todo el sistema, porque las responsabilidades están separadas por servicio.</a:t>
            </a:r>
            <a:endParaRPr lang="en-US" sz="143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9525">
            <a:solidFill>
              <a:srgbClr val="D4E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SaludPlus · Sistema de Gestión Clínica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13739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8592" y="51663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C94"/>
                </a:solidFill>
              </a:rPr>
              <a:t>03 · Usuarios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2062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¿Quiénes usan SaludPlus?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93268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La solución conecta el trabajo de recepción, equipo clínico y áreas administrativas.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2148840" cy="35204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5608" y="19385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🧍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</a:rPr>
              <a:t>Paciente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05840" y="3401568"/>
            <a:ext cx="16916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60758A"/>
                </a:solidFill>
              </a:rPr>
              <a:t>Registro, reserva de cita y recepción de notificaciones.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3611880" y="1600200"/>
            <a:ext cx="2148840" cy="35204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0248" y="19385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🗂️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84048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</a:rPr>
              <a:t>Recepción / Administración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840480" y="3401568"/>
            <a:ext cx="16916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60758A"/>
                </a:solidFill>
              </a:rPr>
              <a:t>Gestión de agenda, pacientes, pagos y datos operativos.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446520" y="1600200"/>
            <a:ext cx="2148840" cy="35204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04888" y="19385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🩺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67512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</a:rPr>
              <a:t>Médico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75120" y="3401568"/>
            <a:ext cx="16916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60758A"/>
                </a:solidFill>
              </a:rPr>
              <a:t>Consulta de ficha, registro de atención y seguimiento clínico.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9281160" y="1600200"/>
            <a:ext cx="2148840" cy="35204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39528" y="19385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💊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50976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</a:rPr>
              <a:t>Farmacia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509760" y="3401568"/>
            <a:ext cx="16916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60758A"/>
                </a:solidFill>
              </a:rPr>
              <a:t>Control de medicamentos vinculados a la atención.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105156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6C94"/>
                </a:solidFill>
              </a:rPr>
              <a:t>El diseño separa funciones por módulo para que cada rol tenga acceso a la información que necesita, en el momento correcto.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9525">
            <a:solidFill>
              <a:srgbClr val="D4E5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SaludPlus · Sistema de Gestión Clínica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13739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8592" y="51663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C94"/>
                </a:solidFill>
              </a:rPr>
              <a:t>04 · Alcance funcional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2062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 principales del sistema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93268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Cada módulo representa una responsabilidad concreta dentro de la clínica.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109728" cy="14173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645920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Pacientes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41832" y="2057400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A"/>
                </a:solidFill>
              </a:rPr>
              <a:t>Registro y consulta de personas atendidas.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14173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7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417320"/>
            <a:ext cx="109728" cy="1417320"/>
          </a:xfrm>
          <a:prstGeom prst="rect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1645920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Médicos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776472" y="2057400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A"/>
                </a:solidFill>
              </a:rPr>
              <a:t>Gestión de profesionales y datos médicos.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55080" y="14173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417320"/>
            <a:ext cx="109728" cy="14173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1645920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Citas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11112" y="2057400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A"/>
                </a:solidFill>
              </a:rPr>
              <a:t>Reserva, actualización y cancelación de horas.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89720" y="14173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7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9720" y="1417320"/>
            <a:ext cx="109728" cy="1417320"/>
          </a:xfrm>
          <a:prstGeom prst="rect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45752" y="1645920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Atenciones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445752" y="2057400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A"/>
                </a:solidFill>
              </a:rPr>
              <a:t>Registro de prestaciones realizadas.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3355848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7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355848"/>
            <a:ext cx="109728" cy="14173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358444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Fichas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41832" y="3995928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A"/>
                </a:solidFill>
              </a:rPr>
              <a:t>Historial clínico asociado al paciente.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20440" y="3355848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7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3355848"/>
            <a:ext cx="109728" cy="1417320"/>
          </a:xfrm>
          <a:prstGeom prst="rect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76472" y="358444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Pagos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3776472" y="3995928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A"/>
                </a:solidFill>
              </a:rPr>
              <a:t>Registro y seguimiento de pagos.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3355848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7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3355848"/>
            <a:ext cx="109728" cy="14173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358444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Farmacia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611112" y="3995928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A"/>
                </a:solidFill>
              </a:rPr>
              <a:t>Medicamentos e inventario básico.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189720" y="3355848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7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89720" y="3355848"/>
            <a:ext cx="109728" cy="1417320"/>
          </a:xfrm>
          <a:prstGeom prst="rect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45752" y="358444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Notificaciones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9445752" y="3995928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0758A"/>
                </a:solidFill>
              </a:rPr>
              <a:t>Mensajes y avisos del sistema.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834640" y="5522976"/>
            <a:ext cx="6492240" cy="475488"/>
          </a:xfrm>
          <a:prstGeom prst="roundRect">
            <a:avLst>
              <a:gd name="adj" fmla="val 15385"/>
            </a:avLst>
          </a:prstGeom>
          <a:solidFill>
            <a:srgbClr val="E6F6F4"/>
          </a:solidFill>
          <a:ln w="12700">
            <a:solidFill>
              <a:srgbClr val="C7EA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63240" y="5660136"/>
            <a:ext cx="6035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46C94"/>
                </a:solidFill>
              </a:rPr>
              <a:t>API Gateway: entrada única para enrutar solicitudes hacia los módulos internos.</a:t>
            </a:r>
            <a:endParaRPr lang="en-US" sz="1160" dirty="0"/>
          </a:p>
        </p:txBody>
      </p:sp>
      <p:sp>
        <p:nvSpPr>
          <p:cNvPr id="40" name="Shape 3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9525">
            <a:solidFill>
              <a:srgbClr val="D4E5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654710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SaludPlus · Sistema de Gestión Clínica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13739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8592" y="51663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C94"/>
                </a:solidFill>
              </a:rPr>
              <a:t>05 · Flujo de negocio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2062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de flujo completo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93268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Así se vería una atención médica gestionada desde SaludPlus.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965960" y="3154680"/>
            <a:ext cx="868680" cy="0"/>
          </a:xfrm>
          <a:prstGeom prst="line">
            <a:avLst/>
          </a:prstGeom>
          <a:noFill/>
          <a:ln w="25400">
            <a:solidFill>
              <a:srgbClr val="9BD7D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67912" y="3154680"/>
            <a:ext cx="868680" cy="0"/>
          </a:xfrm>
          <a:prstGeom prst="line">
            <a:avLst/>
          </a:prstGeom>
          <a:noFill/>
          <a:ln w="25400">
            <a:solidFill>
              <a:srgbClr val="9BD7D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769864" y="3154680"/>
            <a:ext cx="868680" cy="0"/>
          </a:xfrm>
          <a:prstGeom prst="line">
            <a:avLst/>
          </a:prstGeom>
          <a:noFill/>
          <a:ln w="25400">
            <a:solidFill>
              <a:srgbClr val="9BD7D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671816" y="3154680"/>
            <a:ext cx="868680" cy="0"/>
          </a:xfrm>
          <a:prstGeom prst="line">
            <a:avLst/>
          </a:prstGeom>
          <a:noFill/>
          <a:ln w="25400">
            <a:solidFill>
              <a:srgbClr val="9BD7D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573768" y="3154680"/>
            <a:ext cx="868680" cy="0"/>
          </a:xfrm>
          <a:prstGeom prst="line">
            <a:avLst/>
          </a:prstGeom>
          <a:noFill/>
          <a:ln w="25400">
            <a:solidFill>
              <a:srgbClr val="9BD7D7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" y="2404872"/>
            <a:ext cx="1069848" cy="106984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42616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B1F33"/>
                </a:solidFill>
              </a:rPr>
              <a:t>Registro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402336" y="4224528"/>
            <a:ext cx="1600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0758A"/>
                </a:solidFill>
              </a:rPr>
              <a:t>Se crea o actualiza el paciente.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2560320" y="2404872"/>
            <a:ext cx="1069848" cy="1069848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642616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359152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B1F33"/>
                </a:solidFill>
              </a:rPr>
              <a:t>Cita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2304288" y="4224528"/>
            <a:ext cx="1600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0758A"/>
                </a:solidFill>
              </a:rPr>
              <a:t>Se reserva una hora con médico.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462272" y="2404872"/>
            <a:ext cx="1069848" cy="106984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2272" y="2642616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261104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B1F33"/>
                </a:solidFill>
              </a:rPr>
              <a:t>Atención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4206240" y="4224528"/>
            <a:ext cx="1600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0758A"/>
                </a:solidFill>
              </a:rPr>
              <a:t>El médico registra la prestación.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6364224" y="2404872"/>
            <a:ext cx="1069848" cy="1069848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2642616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63056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B1F33"/>
                </a:solidFill>
              </a:rPr>
              <a:t>Ficha</a:t>
            </a:r>
            <a:endParaRPr lang="en-US" sz="1340" dirty="0"/>
          </a:p>
        </p:txBody>
      </p:sp>
      <p:sp>
        <p:nvSpPr>
          <p:cNvPr id="26" name="Text 24"/>
          <p:cNvSpPr/>
          <p:nvPr/>
        </p:nvSpPr>
        <p:spPr>
          <a:xfrm>
            <a:off x="6108192" y="4224528"/>
            <a:ext cx="1600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0758A"/>
                </a:solidFill>
              </a:rPr>
              <a:t>Queda guardado el historial clínico.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8266176" y="2404872"/>
            <a:ext cx="1069848" cy="106984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66176" y="2642616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065008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B1F33"/>
                </a:solidFill>
              </a:rPr>
              <a:t>Pago</a:t>
            </a:r>
            <a:endParaRPr lang="en-US" sz="1340" dirty="0"/>
          </a:p>
        </p:txBody>
      </p:sp>
      <p:sp>
        <p:nvSpPr>
          <p:cNvPr id="30" name="Text 28"/>
          <p:cNvSpPr/>
          <p:nvPr/>
        </p:nvSpPr>
        <p:spPr>
          <a:xfrm>
            <a:off x="8010144" y="4224528"/>
            <a:ext cx="1600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0758A"/>
                </a:solidFill>
              </a:rPr>
              <a:t>Se registra el pago asociado.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10168128" y="2404872"/>
            <a:ext cx="1069848" cy="1069848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68128" y="2642616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966960" y="3822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B1F33"/>
                </a:solidFill>
              </a:rPr>
              <a:t>Notificación</a:t>
            </a:r>
            <a:endParaRPr lang="en-US" sz="1340" dirty="0"/>
          </a:p>
        </p:txBody>
      </p:sp>
      <p:sp>
        <p:nvSpPr>
          <p:cNvPr id="34" name="Text 32"/>
          <p:cNvSpPr/>
          <p:nvPr/>
        </p:nvSpPr>
        <p:spPr>
          <a:xfrm>
            <a:off x="9912096" y="4224528"/>
            <a:ext cx="1600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0758A"/>
                </a:solidFill>
              </a:rPr>
              <a:t>El sistema envía aviso o confirmación.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1234440" y="5358384"/>
            <a:ext cx="9692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6E8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5513832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6C94"/>
                </a:solidFill>
              </a:rPr>
              <a:t>Resultado: trazabilidad desde el contacto inicial hasta el cierre administrativo y clínico.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9525">
            <a:solidFill>
              <a:srgbClr val="D4E5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4710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SaludPlus · Sistema de Gestión Clínica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13739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8592" y="51663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C94"/>
                </a:solidFill>
              </a:rPr>
              <a:t>06 · Arquitectura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2062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pensada para crecer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93268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El Gateway recibe las solicitudes y las distribuye a servicios independientes.</a:t>
            </a:r>
            <a:endParaRPr lang="en-US" sz="1250" dirty="0"/>
          </a:p>
        </p:txBody>
      </p:sp>
      <p:pic>
        <p:nvPicPr>
          <p:cNvPr id="6" name="Image 0" descr="/mnt/data/arch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554480"/>
            <a:ext cx="292608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0" y="3246120"/>
            <a:ext cx="1024128" cy="0"/>
          </a:xfrm>
          <a:prstGeom prst="line">
            <a:avLst/>
          </a:prstGeom>
          <a:noFill/>
          <a:ln w="25400">
            <a:solidFill>
              <a:srgbClr val="7ACFD1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074920" y="2048256"/>
            <a:ext cx="1234440" cy="0"/>
          </a:xfrm>
          <a:prstGeom prst="line">
            <a:avLst/>
          </a:prstGeom>
          <a:noFill/>
          <a:ln w="19050">
            <a:solidFill>
              <a:srgbClr val="A6DDE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074920" y="2706624"/>
            <a:ext cx="1234440" cy="0"/>
          </a:xfrm>
          <a:prstGeom prst="line">
            <a:avLst/>
          </a:prstGeom>
          <a:noFill/>
          <a:ln w="19050">
            <a:solidFill>
              <a:srgbClr val="A6DDE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074920" y="3364992"/>
            <a:ext cx="1234440" cy="0"/>
          </a:xfrm>
          <a:prstGeom prst="line">
            <a:avLst/>
          </a:prstGeom>
          <a:noFill/>
          <a:ln w="19050">
            <a:solidFill>
              <a:srgbClr val="A6DDE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074920" y="4023360"/>
            <a:ext cx="1234440" cy="0"/>
          </a:xfrm>
          <a:prstGeom prst="line">
            <a:avLst/>
          </a:prstGeom>
          <a:noFill/>
          <a:ln w="19050">
            <a:solidFill>
              <a:srgbClr val="A6DDE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77240" y="2468880"/>
            <a:ext cx="1508760" cy="15544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DC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2871216"/>
            <a:ext cx="1143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Cliente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Web / App / Postman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28416" y="2395728"/>
            <a:ext cx="1737360" cy="1700784"/>
          </a:xfrm>
          <a:prstGeom prst="roundRect">
            <a:avLst>
              <a:gd name="adj" fmla="val 5376"/>
            </a:avLst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0" y="2770632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API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Gateway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8080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355080" y="1691640"/>
            <a:ext cx="16002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EE3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3952" y="181051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</a:rPr>
              <a:t>Pacientes · 8081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55080" y="2350008"/>
            <a:ext cx="16002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EE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73952" y="24688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</a:rPr>
              <a:t>Médicos · 8082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355080" y="3008376"/>
            <a:ext cx="16002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EE3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73952" y="312724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</a:rPr>
              <a:t>Citas · 8083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355080" y="3666744"/>
            <a:ext cx="16002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EE3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73952" y="378561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3"/>
                </a:solidFill>
              </a:rPr>
              <a:t>Atenciones · 8084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172200" y="4617720"/>
            <a:ext cx="2011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0758A"/>
                </a:solidFill>
              </a:rPr>
              <a:t>Más servicios: fichas, pagos, farmacia y notificaciones.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9525">
            <a:solidFill>
              <a:srgbClr val="D4E5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654710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SaludPlus · Sistema de Gestión Clínica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113739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8592" y="51663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C94"/>
                </a:solidFill>
              </a:rPr>
              <a:t>07 · Datos y seguridad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2062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Información ordenada y protegida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93268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La solución trabaja con persistencia real, bases por módulo y autenticación JWT.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572768"/>
            <a:ext cx="2240280" cy="306324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0472" y="1847088"/>
            <a:ext cx="822960" cy="82296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9616" y="2039112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Persistencia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493008"/>
            <a:ext cx="1783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60758A"/>
                </a:solidFill>
              </a:rPr>
              <a:t>Cada microservicio trabaja con JPA/Hibernate y base MySQL independiente.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3520440" y="1572768"/>
            <a:ext cx="2240280" cy="306324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33672" y="1847088"/>
            <a:ext cx="822960" cy="822960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2039112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9718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Integridad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749040" y="3493008"/>
            <a:ext cx="1783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60758A"/>
                </a:solidFill>
              </a:rPr>
              <a:t>Entidades, claves y operaciones CRUD permiten mantener datos consistentes.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6263640" y="1572768"/>
            <a:ext cx="2240280" cy="306324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76872" y="1847088"/>
            <a:ext cx="822960" cy="82296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86016" y="2039112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🔐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92240" y="29718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Seguridad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92240" y="3493008"/>
            <a:ext cx="1783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60758A"/>
                </a:solidFill>
              </a:rPr>
              <a:t>JWT permite controlar el acceso usando token Bearer en cada petición.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9006840" y="1572768"/>
            <a:ext cx="2240280" cy="306324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20072" y="1847088"/>
            <a:ext cx="822960" cy="82296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9216" y="2039112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35440" y="29718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Documentación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235440" y="3493008"/>
            <a:ext cx="1783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60758A"/>
                </a:solidFill>
              </a:rPr>
              <a:t>Swagger permite revisar rutas, parámetros y respuestas esperadas.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2240280" y="5230368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EFF9F6"/>
          </a:solidFill>
          <a:ln w="12700">
            <a:solidFill>
              <a:srgbClr val="CFE8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5376672"/>
            <a:ext cx="7223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46C94"/>
                </a:solidFill>
              </a:rPr>
              <a:t>Para el cliente esto significa datos trazables, APIs claras y una base preparada para sumar nuevas funcionalidades.</a:t>
            </a:r>
            <a:endParaRPr lang="en-US" sz="1170" dirty="0"/>
          </a:p>
        </p:txBody>
      </p:sp>
      <p:sp>
        <p:nvSpPr>
          <p:cNvPr id="28" name="Shape 2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9525">
            <a:solidFill>
              <a:srgbClr val="D4E5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SaludPlus · Sistema de Gestión Clínica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13739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8592" y="51663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C94"/>
                </a:solidFill>
              </a:rPr>
              <a:t>08 · Funcionalidades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2062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puede hacer el sistema hoy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93268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Los endpoints REST cubren operaciones CRUD de los principales recursos clínicos.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4698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6E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856232"/>
            <a:ext cx="109728" cy="4114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78308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Pacientes / Médicos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77640" y="1783080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Listar, obtener por ID, crear, actualizar y eliminar registros.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2642616"/>
            <a:ext cx="109728" cy="411480"/>
          </a:xfrm>
          <a:prstGeom prst="rect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56946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Citas / Atenciones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2569464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Reservar o actualizar citas y registrar prestaciones médicas.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88720" y="3429000"/>
            <a:ext cx="109728" cy="4114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335584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Fichas / Pagos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77640" y="3355848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Administrar historial clínico y pagos asociados a la atención.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88720" y="4215384"/>
            <a:ext cx="109728" cy="411480"/>
          </a:xfrm>
          <a:prstGeom prst="rect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414223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Farmacia / Notificaciones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77640" y="4142232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58A"/>
                </a:solidFill>
              </a:rPr>
              <a:t>Administrar medicamentos y emitir mensajes del sistema.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495604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6C94"/>
                </a:solidFill>
              </a:rPr>
              <a:t>La API responde en JSON y usa métodos HTTP semánticos: GET, POST, PUT y DELETE.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9525">
            <a:solidFill>
              <a:srgbClr val="D4E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SaludPlus · Sistema de Gestión Clínica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13739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8592" y="51663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C94"/>
                </a:solidFill>
              </a:rPr>
              <a:t>09 · Calidad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2062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aseguramos mantenibilidad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93268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El proyecto está organizado con patrón CSR y buenas prácticas de API.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63240" y="2359152"/>
            <a:ext cx="0" cy="347472"/>
          </a:xfrm>
          <a:prstGeom prst="line">
            <a:avLst/>
          </a:prstGeom>
          <a:noFill/>
          <a:ln w="19050">
            <a:solidFill>
              <a:srgbClr val="9DD8D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63240" y="3072384"/>
            <a:ext cx="0" cy="347472"/>
          </a:xfrm>
          <a:prstGeom prst="line">
            <a:avLst/>
          </a:prstGeom>
          <a:noFill/>
          <a:ln w="19050">
            <a:solidFill>
              <a:srgbClr val="9DD8D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63240" y="3785616"/>
            <a:ext cx="0" cy="347472"/>
          </a:xfrm>
          <a:prstGeom prst="line">
            <a:avLst/>
          </a:prstGeom>
          <a:noFill/>
          <a:ln w="19050">
            <a:solidFill>
              <a:srgbClr val="9DD8D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60120" y="1508760"/>
            <a:ext cx="4206240" cy="566928"/>
          </a:xfrm>
          <a:prstGeom prst="roundRect">
            <a:avLst>
              <a:gd name="adj" fmla="val 8065"/>
            </a:avLst>
          </a:prstGeom>
          <a:solidFill>
            <a:srgbClr val="E8F6F8"/>
          </a:solidFill>
          <a:ln w="12700">
            <a:solidFill>
              <a:srgbClr val="CF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655064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0B1F33"/>
                </a:solidFill>
              </a:rPr>
              <a:t>Controller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2788920" y="1655064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58A"/>
                </a:solidFill>
              </a:rPr>
              <a:t>Recibe solicitudes REST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960120" y="2386584"/>
            <a:ext cx="4206240" cy="566928"/>
          </a:xfrm>
          <a:prstGeom prst="roundRect">
            <a:avLst>
              <a:gd name="adj" fmla="val 8065"/>
            </a:avLst>
          </a:prstGeom>
          <a:solidFill>
            <a:srgbClr val="EAF8F1"/>
          </a:solidFill>
          <a:ln w="12700">
            <a:solidFill>
              <a:srgbClr val="CF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532888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0B1F33"/>
                </a:solidFill>
              </a:rPr>
              <a:t>Service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2788920" y="2532888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58A"/>
                </a:solidFill>
              </a:rPr>
              <a:t>Aplica reglas de negocio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60120" y="3264408"/>
            <a:ext cx="4206240" cy="566928"/>
          </a:xfrm>
          <a:prstGeom prst="roundRect">
            <a:avLst>
              <a:gd name="adj" fmla="val 8065"/>
            </a:avLst>
          </a:prstGeom>
          <a:solidFill>
            <a:srgbClr val="E8F6F8"/>
          </a:solidFill>
          <a:ln w="12700">
            <a:solidFill>
              <a:srgbClr val="CF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410712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0B1F33"/>
                </a:solidFill>
              </a:rPr>
              <a:t>Repository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2788920" y="3410712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58A"/>
                </a:solidFill>
              </a:rPr>
              <a:t>Conecta con JPA y MySQL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60120" y="4142232"/>
            <a:ext cx="4206240" cy="566928"/>
          </a:xfrm>
          <a:prstGeom prst="roundRect">
            <a:avLst>
              <a:gd name="adj" fmla="val 8065"/>
            </a:avLst>
          </a:prstGeom>
          <a:solidFill>
            <a:srgbClr val="EAF8F1"/>
          </a:solidFill>
          <a:ln w="12700">
            <a:solidFill>
              <a:srgbClr val="CF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4288536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0B1F33"/>
                </a:solidFill>
              </a:rPr>
              <a:t>Model / DTO</a:t>
            </a:r>
            <a:endParaRPr lang="en-US" sz="1330" dirty="0"/>
          </a:p>
        </p:txBody>
      </p:sp>
      <p:sp>
        <p:nvSpPr>
          <p:cNvPr id="20" name="Text 18"/>
          <p:cNvSpPr/>
          <p:nvPr/>
        </p:nvSpPr>
        <p:spPr>
          <a:xfrm>
            <a:off x="2788920" y="4288536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58A"/>
                </a:solidFill>
              </a:rPr>
              <a:t>Representa datos y validaciones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897880" y="1645920"/>
            <a:ext cx="5029200" cy="2606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20" dirty="0">
                <a:solidFill>
                  <a:srgbClr val="0B1F33"/>
                </a:solidFill>
              </a:rPr>
              <a:t>Responsabilidades separadas: no se mezcla lógica de negocio con acceso a datos.</a:t>
            </a:r>
            <a:endParaRPr lang="en-US" sz="1320" dirty="0"/>
          </a:p>
          <a:p>
            <a:r>
              <a:rPr lang="en-US" sz="1320" dirty="0">
                <a:solidFill>
                  <a:srgbClr val="0B1F33"/>
                </a:solidFill>
              </a:rPr>
              <a:t>Validaciones y respuestas controladas para evitar entradas inválidas.</a:t>
            </a:r>
            <a:endParaRPr lang="en-US" sz="1320" dirty="0"/>
          </a:p>
          <a:p>
            <a:r>
              <a:rPr lang="en-US" sz="1320" dirty="0">
                <a:solidFill>
                  <a:srgbClr val="0B1F33"/>
                </a:solidFill>
              </a:rPr>
              <a:t>Logs y manejo de errores ayudan a detectar fallas durante la ejecución.</a:t>
            </a:r>
            <a:endParaRPr lang="en-US" sz="1320" dirty="0"/>
          </a:p>
          <a:p>
            <a:r>
              <a:rPr lang="en-US" sz="1320" dirty="0">
                <a:solidFill>
                  <a:srgbClr val="0B1F33"/>
                </a:solidFill>
              </a:rPr>
              <a:t>Swagger y GitHub dejan trazabilidad técnica para mantener el proyecto.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5897880" y="4800600"/>
            <a:ext cx="4983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6E8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4965192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46C94"/>
                </a:solidFill>
              </a:rPr>
              <a:t>Beneficio: menos riesgo al modificar o ampliar el sistema.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9525">
            <a:solidFill>
              <a:srgbClr val="D4E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SaludPlus · Sistema de Gestión Clínica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13739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8592" y="51663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C94"/>
                </a:solidFill>
              </a:rPr>
              <a:t>10 · Evidencia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2062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de implementación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93268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El proyecto se respalda con repositorio, endpoints documentados y ejecución local.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44348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95681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6C94"/>
                </a:solidFill>
              </a:rPr>
              <a:t>Git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38528" y="184708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Repositorio GitHub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38528" y="21762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0758A"/>
                </a:solidFill>
              </a:rPr>
              <a:t>Código versionado y organizado por servicios.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44348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95681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6C94"/>
                </a:solidFill>
              </a:rPr>
              <a:t>API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50608" y="184708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Swagger por servicio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0608" y="21762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0758A"/>
                </a:solidFill>
              </a:rPr>
              <a:t>Documentación para probar rutas y respuestas.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914400" y="3063240"/>
            <a:ext cx="44348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3741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6C94"/>
                </a:solidFill>
              </a:rPr>
              <a:t>REST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38528" y="32644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Postman / REST Client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38528" y="35935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0758A"/>
                </a:solidFill>
              </a:rPr>
              <a:t>Validación de códigos HTTP y JSON.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6126480" y="3063240"/>
            <a:ext cx="44348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33741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6C94"/>
                </a:solidFill>
              </a:rPr>
              <a:t>SQL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50608" y="32644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Bases MySQL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50608" y="35935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0758A"/>
                </a:solidFill>
              </a:rPr>
              <a:t>Persistencia separada para cada dominio.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1920240" y="4956048"/>
            <a:ext cx="8321040" cy="594360"/>
          </a:xfrm>
          <a:prstGeom prst="roundRect">
            <a:avLst>
              <a:gd name="adj" fmla="val 10769"/>
            </a:avLst>
          </a:prstGeom>
          <a:solidFill>
            <a:srgbClr val="E8F6F8"/>
          </a:solidFill>
          <a:ln w="12700">
            <a:solidFill>
              <a:srgbClr val="BFE6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51389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</a:rPr>
              <a:t>Durante la presentación se puede mostrar: un endpoint en Swagger, una prueba REST y el flujo de carpetas del servicio.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9525">
            <a:solidFill>
              <a:srgbClr val="D4E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SaludPlus · Sistema de Gestión Clínica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13739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8592" y="51663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C94"/>
                </a:solidFill>
              </a:rPr>
              <a:t>11 · Alcance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2062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actual y evolución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93268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La arquitectura actual ya cubre el núcleo clínico y permite sumar servicios nuevos.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51206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5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10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Disponible hoy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2404872"/>
            <a:ext cx="434340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260" dirty="0">
                <a:solidFill>
                  <a:srgbClr val="0B1F33"/>
                </a:solidFill>
              </a:rPr>
              <a:t>Gateway como punto de entrada.</a:t>
            </a:r>
            <a:endParaRPr lang="en-US" sz="1260" dirty="0"/>
          </a:p>
          <a:p>
            <a:r>
              <a:rPr lang="en-US" sz="1260" dirty="0">
                <a:solidFill>
                  <a:srgbClr val="0B1F33"/>
                </a:solidFill>
              </a:rPr>
              <a:t>Servicios de pacientes, médicos, citas, atenciones, fichas, pagos, farmacia y notificaciones.</a:t>
            </a:r>
            <a:endParaRPr lang="en-US" sz="1260" dirty="0"/>
          </a:p>
          <a:p>
            <a:r>
              <a:rPr lang="en-US" sz="1260" dirty="0">
                <a:solidFill>
                  <a:srgbClr val="0B1F33"/>
                </a:solidFill>
              </a:rPr>
              <a:t>CRUD REST y documentación Swagger por microservicio.</a:t>
            </a:r>
            <a:endParaRPr lang="en-US" sz="1260" dirty="0"/>
          </a:p>
          <a:p>
            <a:r>
              <a:rPr lang="en-US" sz="1260" dirty="0">
                <a:solidFill>
                  <a:srgbClr val="0B1F33"/>
                </a:solidFill>
              </a:rPr>
              <a:t>Persistencia con MySQL/JPA y estructura CSR.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4983480" cy="4160520"/>
          </a:xfrm>
          <a:prstGeom prst="roundRect">
            <a:avLst>
              <a:gd name="adj" fmla="val 1978"/>
            </a:avLst>
          </a:prstGeom>
          <a:solidFill>
            <a:srgbClr val="ECF8F9"/>
          </a:solidFill>
          <a:ln w="12700">
            <a:solidFill>
              <a:srgbClr val="CBE9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8105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Siguientes mejoras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12280" y="2404872"/>
            <a:ext cx="420624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260" dirty="0">
                <a:solidFill>
                  <a:srgbClr val="0B1F33"/>
                </a:solidFill>
              </a:rPr>
              <a:t>Separar autenticación en un auth-service.</a:t>
            </a:r>
            <a:endParaRPr lang="en-US" sz="1260" dirty="0"/>
          </a:p>
          <a:p>
            <a:r>
              <a:rPr lang="en-US" sz="1260" dirty="0">
                <a:solidFill>
                  <a:srgbClr val="0B1F33"/>
                </a:solidFill>
              </a:rPr>
              <a:t>Agregar reportes/auditoría para métricas y seguimiento.</a:t>
            </a:r>
            <a:endParaRPr lang="en-US" sz="1260" dirty="0"/>
          </a:p>
          <a:p>
            <a:r>
              <a:rPr lang="en-US" sz="1260" dirty="0">
                <a:solidFill>
                  <a:srgbClr val="0B1F33"/>
                </a:solidFill>
              </a:rPr>
              <a:t>Contenerizar servicios para despliegue más simple.</a:t>
            </a:r>
            <a:endParaRPr lang="en-US" sz="1260" dirty="0"/>
          </a:p>
          <a:p>
            <a:r>
              <a:rPr lang="en-US" sz="1260" dirty="0">
                <a:solidFill>
                  <a:srgbClr val="0B1F33"/>
                </a:solidFill>
              </a:rPr>
              <a:t>Ampliar pruebas unitarias y flujos de integración.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1097280" y="5989320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46C94"/>
                </a:solidFill>
              </a:rPr>
              <a:t>La evolución mantiene el mismo principio: servicios pequeños, independientes y fáciles de mantener.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9525">
            <a:solidFill>
              <a:srgbClr val="D4E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SaludPlus · Sistema de Gestión Clínica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13739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side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55080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808" y="786384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123B54"/>
          </a:solidFill>
          <a:ln w="12700">
            <a:solidFill>
              <a:srgbClr val="123B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882396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EAF0"/>
                </a:solidFill>
              </a:rPr>
              <a:t>Cierre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49808" y="1572768"/>
            <a:ext cx="51206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SaludPlus ordena el flujo clínico y deja una base escalable para la clínica.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77240" y="3310128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7EEF5"/>
                </a:solidFill>
              </a:rPr>
              <a:t>La solución permite gestionar recursos centrales, probarlos mediante APIs documentadas y evolucionar por módulos sin afectar todo el sistema.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52303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EAF0"/>
                </a:solidFill>
              </a:rPr>
              <a:t>Preguntas del cliente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42062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E8F6F8"/>
          </a:solidFill>
          <a:ln w="12700">
            <a:solidFill>
              <a:srgbClr val="E8F6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08592" y="516636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C94"/>
                </a:solidFill>
              </a:rPr>
              <a:t>Anexo ·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42062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sugerida para mostrar en vivo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93268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Tres pasos simples para defender el funcionamiento sin perder el enfoque cliente.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3017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67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1. Swagger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971800"/>
            <a:ext cx="219456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Abrir un servicio y mostrar endpoints principales.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1874520"/>
            <a:ext cx="3017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267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2. Prueba REST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971800"/>
            <a:ext cx="219456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Ejecutar GET o POST y validar JSON + código HTTP.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66760" y="1874520"/>
            <a:ext cx="3017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2267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3. Código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78240" y="2971800"/>
            <a:ext cx="219456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58A"/>
                </a:solidFill>
              </a:rPr>
              <a:t>Mostrar Controller → Service → Repository y explicar responsabilidades.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828800" y="5074920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E6F6F4"/>
          </a:solidFill>
          <a:ln w="12700">
            <a:solidFill>
              <a:srgbClr val="C8E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5257800"/>
            <a:ext cx="7863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46C94"/>
                </a:solidFill>
              </a:rPr>
              <a:t>Usar este anexo solo si el profesor pide evidencia técnica durante la exposición.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9525">
            <a:solidFill>
              <a:srgbClr val="D4E5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SaludPlus · Sistema de Gestión Clínica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137392" y="65471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EA0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SaludPlus — Presentación del Proyecto</dc:title>
  <dc:subject>Presentación cliente SaludPlus</dc:subject>
  <dc:creator>OpenAI</dc:creator>
  <cp:lastModifiedBy>OpenAI</cp:lastModifiedBy>
  <cp:revision>1</cp:revision>
  <dcterms:created xsi:type="dcterms:W3CDTF">2026-07-10T20:00:32Z</dcterms:created>
  <dcterms:modified xsi:type="dcterms:W3CDTF">2026-07-10T20:00:32Z</dcterms:modified>
</cp:coreProperties>
</file>