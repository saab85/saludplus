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CD1EFA-D207-4F25-811F-9D1036B436E5}">
  <a:tblStyle styleId="{EDCD1EFA-D207-4F25-811F-9D1036B436E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5.png"/><Relationship Id="rId6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Relationship Id="rId4" Type="http://schemas.openxmlformats.org/officeDocument/2006/relationships/image" Target="../media/image8.png"/><Relationship Id="rId10" Type="http://schemas.openxmlformats.org/officeDocument/2006/relationships/image" Target="../media/image5.png"/><Relationship Id="rId9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.png"/><Relationship Id="rId8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0.png"/><Relationship Id="rId4" Type="http://schemas.openxmlformats.org/officeDocument/2006/relationships/image" Target="../media/image16.png"/><Relationship Id="rId5" Type="http://schemas.openxmlformats.org/officeDocument/2006/relationships/image" Target="../media/image6.png"/><Relationship Id="rId6" Type="http://schemas.openxmlformats.org/officeDocument/2006/relationships/image" Target="../media/image23.png"/><Relationship Id="rId7" Type="http://schemas.openxmlformats.org/officeDocument/2006/relationships/image" Target="../media/image3.png"/><Relationship Id="rId8" Type="http://schemas.openxmlformats.org/officeDocument/2006/relationships/image" Target="../media/image3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0.png"/><Relationship Id="rId4" Type="http://schemas.openxmlformats.org/officeDocument/2006/relationships/image" Target="../media/image13.png"/><Relationship Id="rId10" Type="http://schemas.openxmlformats.org/officeDocument/2006/relationships/image" Target="../media/image20.png"/><Relationship Id="rId9" Type="http://schemas.openxmlformats.org/officeDocument/2006/relationships/image" Target="../media/image24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Relationship Id="rId7" Type="http://schemas.openxmlformats.org/officeDocument/2006/relationships/image" Target="../media/image12.png"/><Relationship Id="rId8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Relationship Id="rId6" Type="http://schemas.openxmlformats.org/officeDocument/2006/relationships/image" Target="../media/image17.png"/><Relationship Id="rId7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Relationship Id="rId5" Type="http://schemas.openxmlformats.org/officeDocument/2006/relationships/image" Target="../media/image42.png"/><Relationship Id="rId6" Type="http://schemas.openxmlformats.org/officeDocument/2006/relationships/image" Target="../media/image65.png"/><Relationship Id="rId7" Type="http://schemas.openxmlformats.org/officeDocument/2006/relationships/image" Target="../media/image26.png"/><Relationship Id="rId8" Type="http://schemas.openxmlformats.org/officeDocument/2006/relationships/image" Target="../media/image3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38.png"/><Relationship Id="rId5" Type="http://schemas.openxmlformats.org/officeDocument/2006/relationships/image" Target="../media/image37.png"/><Relationship Id="rId6" Type="http://schemas.openxmlformats.org/officeDocument/2006/relationships/image" Target="../media/image28.png"/><Relationship Id="rId7" Type="http://schemas.openxmlformats.org/officeDocument/2006/relationships/image" Target="../media/image32.png"/><Relationship Id="rId8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Relationship Id="rId4" Type="http://schemas.openxmlformats.org/officeDocument/2006/relationships/image" Target="../media/image47.png"/><Relationship Id="rId5" Type="http://schemas.openxmlformats.org/officeDocument/2006/relationships/image" Target="../media/image34.png"/><Relationship Id="rId6" Type="http://schemas.openxmlformats.org/officeDocument/2006/relationships/image" Target="../media/image3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Relationship Id="rId4" Type="http://schemas.openxmlformats.org/officeDocument/2006/relationships/image" Target="../media/image39.png"/><Relationship Id="rId10" Type="http://schemas.openxmlformats.org/officeDocument/2006/relationships/image" Target="../media/image52.png"/><Relationship Id="rId9" Type="http://schemas.openxmlformats.org/officeDocument/2006/relationships/image" Target="../media/image41.png"/><Relationship Id="rId5" Type="http://schemas.openxmlformats.org/officeDocument/2006/relationships/image" Target="../media/image40.png"/><Relationship Id="rId6" Type="http://schemas.openxmlformats.org/officeDocument/2006/relationships/image" Target="../media/image45.png"/><Relationship Id="rId7" Type="http://schemas.openxmlformats.org/officeDocument/2006/relationships/image" Target="../media/image49.png"/><Relationship Id="rId8" Type="http://schemas.openxmlformats.org/officeDocument/2006/relationships/image" Target="../media/image4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Relationship Id="rId4" Type="http://schemas.openxmlformats.org/officeDocument/2006/relationships/image" Target="../media/image64.png"/><Relationship Id="rId9" Type="http://schemas.openxmlformats.org/officeDocument/2006/relationships/image" Target="../media/image55.png"/><Relationship Id="rId5" Type="http://schemas.openxmlformats.org/officeDocument/2006/relationships/image" Target="../media/image67.png"/><Relationship Id="rId6" Type="http://schemas.openxmlformats.org/officeDocument/2006/relationships/image" Target="../media/image44.png"/><Relationship Id="rId7" Type="http://schemas.openxmlformats.org/officeDocument/2006/relationships/image" Target="../media/image54.png"/><Relationship Id="rId8" Type="http://schemas.openxmlformats.org/officeDocument/2006/relationships/image" Target="../media/image6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Relationship Id="rId4" Type="http://schemas.openxmlformats.org/officeDocument/2006/relationships/image" Target="../media/image46.png"/><Relationship Id="rId10" Type="http://schemas.openxmlformats.org/officeDocument/2006/relationships/image" Target="../media/image50.png"/><Relationship Id="rId9" Type="http://schemas.openxmlformats.org/officeDocument/2006/relationships/image" Target="../media/image51.png"/><Relationship Id="rId5" Type="http://schemas.openxmlformats.org/officeDocument/2006/relationships/image" Target="../media/image48.png"/><Relationship Id="rId6" Type="http://schemas.openxmlformats.org/officeDocument/2006/relationships/image" Target="../media/image58.png"/><Relationship Id="rId7" Type="http://schemas.openxmlformats.org/officeDocument/2006/relationships/image" Target="../media/image62.png"/><Relationship Id="rId8" Type="http://schemas.openxmlformats.org/officeDocument/2006/relationships/image" Target="../media/image5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3.png"/><Relationship Id="rId4" Type="http://schemas.openxmlformats.org/officeDocument/2006/relationships/image" Target="../media/image57.png"/><Relationship Id="rId5" Type="http://schemas.openxmlformats.org/officeDocument/2006/relationships/image" Target="../media/image61.png"/><Relationship Id="rId6" Type="http://schemas.openxmlformats.org/officeDocument/2006/relationships/image" Target="../media/image6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Relationship Id="rId4" Type="http://schemas.openxmlformats.org/officeDocument/2006/relationships/image" Target="../media/image59.png"/><Relationship Id="rId5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2525166"/>
            <a:ext cx="900112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SaludPlus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611016"/>
            <a:ext cx="8572500" cy="693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Defensa Técnica de Arquitectura, Microservicios y Calidad según Rúbrica Institucional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4862" y="2044154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824412" y="2039391"/>
            <a:ext cx="27527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SUSTENTACIÓN DE PROYECTO GRUPAL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095750" y="4732883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SAAB85/SaludPlus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810250" y="4732883"/>
            <a:ext cx="47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143625" y="4732883"/>
            <a:ext cx="1952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Arquitectura Spring Boot 3</a:t>
            </a:r>
            <a:endParaRPr/>
          </a:p>
        </p:txBody>
      </p:sp>
      <p:pic>
        <p:nvPicPr>
          <p:cNvPr descr="image.png" id="92" name="Google Shape;9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95750" y="4751933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43625" y="4751933"/>
            <a:ext cx="18097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62175"/>
            <a:ext cx="3486150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162175"/>
            <a:ext cx="3486150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162175"/>
            <a:ext cx="3486150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595312"/>
            <a:ext cx="3000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876300" y="3067050"/>
            <a:ext cx="30403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1. Controller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76300" y="3600450"/>
            <a:ext cx="289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Maneja exclusivamente las peticiones HTTP externas. Mapea endpoints semánticos, gestiona objetos JSON, desencadena la validación Bean Validation (JSR 380) de los DTOs y devuelve códigos HTTP estructurados.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648200" y="3067050"/>
            <a:ext cx="30403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2. Service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4648200" y="3600450"/>
            <a:ext cx="2895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Soporta la lógica de negocio y las reglas de SaludPlus. Aísla la base de datos controlando transacciones y gestionando conversiones entre DTOs y entidades de forma totalmente transparente.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420100" y="3067050"/>
            <a:ext cx="30403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3. Repository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420100" y="3600450"/>
            <a:ext cx="2895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Abstrae la capa de acceso a datos utilizando interfaces que heredan de JpaRepository. Genera de forma directa las consultas Hibernate sin mezclar responsabilidades operativas.</a:t>
            </a:r>
            <a:endParaRPr/>
          </a:p>
        </p:txBody>
      </p:sp>
      <p:pic>
        <p:nvPicPr>
          <p:cNvPr descr="image.png" id="109" name="Google Shape;10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300" y="2505075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48200" y="2505075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20100" y="2505075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995362" y="485775"/>
            <a:ext cx="11146393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Arquitectura de Software: CSR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581025" y="971550"/>
            <a:ext cx="5476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205460"/>
            <a:ext cx="5324475" cy="11709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595312"/>
            <a:ext cx="23336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581025" y="2466975"/>
            <a:ext cx="5324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Estructuración de Entidades e Integridad en SaludPlus: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009650" y="2914650"/>
            <a:ext cx="48958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Claves Primarias y Foráneas: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Uso estricto de IDs autogenerados y claves foráneas tipadas mediante anotaciones JPA para garantizar consistencia referencial en la BD.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09650" y="3876675"/>
            <a:ext cx="4895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Mapeo de Relaciones: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Asociación estricta de entidades de salud (e.g. Paciente a Cita) mediante @ManyToOne y @OneToMany.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009650" y="4581525"/>
            <a:ext cx="4895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Integridad Referencial: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Control y eliminación en cascada para evitar registros huérfanos y mantener integridad de datos.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9241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88620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59105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928687" y="485775"/>
            <a:ext cx="11216401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Modelado de Datos Relacional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581025" y="971550"/>
            <a:ext cx="5519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57412"/>
            <a:ext cx="5324475" cy="32669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57412"/>
            <a:ext cx="5324475" cy="32669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4024312"/>
            <a:ext cx="4733925" cy="1104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4344292"/>
            <a:ext cx="4733925" cy="7847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595312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1181100" y="2452687"/>
            <a:ext cx="465058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Configuración de Persistencia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76300" y="3033712"/>
            <a:ext cx="4733925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 el archivo application.yml se centralizan las credenciales, URL de conexión, pool de conexiones y el dialecto Hibernate específico (PostgreSQL/MySQL) para optimizar la traducción SQL.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858000" y="2452687"/>
            <a:ext cx="46805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Migración e Inicialización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581775" y="3198465"/>
            <a:ext cx="47339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persistencia en SaludPlus cuenta con scripts controlados (SQL DDL/DML o Flyway/Liquibase) que estructuran el esquema inicial de base de datos de manera automatizada en el arranque del aplicativo.</a:t>
            </a:r>
            <a:endParaRPr/>
          </a:p>
        </p:txBody>
      </p:sp>
      <p:pic>
        <p:nvPicPr>
          <p:cNvPr descr="image.png" id="144" name="Google Shape;14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6300" y="250507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2505075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957262" y="485775"/>
            <a:ext cx="11186398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Persistencia y Configuración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581025" y="971550"/>
            <a:ext cx="56530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95312"/>
            <a:ext cx="3286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1009650" y="2733675"/>
            <a:ext cx="10601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Aislamiento Completo mediante DTOs: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SaludPlus no expone sus entidades JPA al cliente. Se implementan DTOs (Data Transfer Objects) dedicados para asegurar que las entradas de datos externos estén desvinculadas de la persistencia directa.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009650" y="3438525"/>
            <a:ext cx="10601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Anotaciones Bean Validation (JSR 380):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integran reglas directamente en la definición de campos del DTO (como @NotNull, @NotBlank, @Size y @Future para agendamientos médicos) evitando el almacenamiento de datos corruptos.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009650" y="4143375"/>
            <a:ext cx="10601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Activación Automática en el Controller: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Uso estricto de la anotación @Valid en los argumentos del controlador HTTP para interceptar errores de validación y detener solicitudes no conformes de inmediato.</a:t>
            </a:r>
            <a:endParaRPr/>
          </a:p>
        </p:txBody>
      </p:sp>
      <p:pic>
        <p:nvPicPr>
          <p:cNvPr descr="image.png" id="157" name="Google Shape;15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743200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4480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1529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1023937" y="485775"/>
            <a:ext cx="11116389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Validaciones de Datos Robustas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581025" y="971550"/>
            <a:ext cx="50625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118842"/>
            <a:ext cx="5324475" cy="13442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595312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581025" y="2338387"/>
            <a:ext cx="5324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Garantía de Respuestas Consistentes: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1009650" y="2786062"/>
            <a:ext cx="48958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@ControllerAdvice: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 interceptor global captura cualquier error lanzado en las capas inferiores, impidiendo fallos silenciosos del servidor.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009650" y="3748087"/>
            <a:ext cx="4895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ResponseEntity Semántico: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Todas las excepciones se transforman en respuestas controladas devolviendo el código HTTP preciso.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1009650" y="4452937"/>
            <a:ext cx="48958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JSON de Error Estructurado: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El cliente siempre recibe una respuesta JSON homogénea con timestamp, código de error y mensaje amigable.</a:t>
            </a:r>
            <a:endParaRPr/>
          </a:p>
        </p:txBody>
      </p:sp>
      <p:pic>
        <p:nvPicPr>
          <p:cNvPr descr="image.png" id="173" name="Google Shape;17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7955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75761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46246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957262" y="485775"/>
            <a:ext cx="11186398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Manejo Centralizado de Errores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581025" y="971550"/>
            <a:ext cx="53006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95312"/>
            <a:ext cx="261937" cy="266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4" name="Google Shape;184;p19"/>
          <p:cNvGraphicFramePr/>
          <p:nvPr/>
        </p:nvGraphicFramePr>
        <p:xfrm>
          <a:off x="581025" y="21359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{EDCD1EFA-D207-4F25-811F-9D1036B436E5}</a:tableStyleId>
              </a:tblPr>
              <a:tblGrid>
                <a:gridCol w="1654375"/>
                <a:gridCol w="2757475"/>
                <a:gridCol w="2757475"/>
                <a:gridCol w="1654375"/>
                <a:gridCol w="2206225"/>
              </a:tblGrid>
              <a:tr h="66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Método HTTP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Ruta Semántica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Entrada / DTO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Código HTTP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Acción Realizada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6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0B98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/api/v1/citas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CitaCreateDTO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201 Created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Agenda una nueva cita médica de forma persistente.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B82F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/api/v1/citas/{id}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@PathVariable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200 OK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Recupera información de una cita en formato JSON.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59E0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/api/v1/citas/{id}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CitaUpdateDTO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200 OK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Actualiza los datos de la cita médica según ID.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EF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DELETE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/api/v1/citas/{id}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@PathVariable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204 No Content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Elimina o cancela una cita médica en base de datos.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5" name="Google Shape;185;p19"/>
          <p:cNvSpPr/>
          <p:nvPr/>
        </p:nvSpPr>
        <p:spPr>
          <a:xfrm>
            <a:off x="581025" y="2612231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2235398" y="2612231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4992885" y="2612231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7750373" y="2612231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9404746" y="2612231"/>
            <a:ext cx="22062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581025" y="3317081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2235398" y="3317081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4992885" y="3317081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7750373" y="3317081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9404746" y="3317081"/>
            <a:ext cx="22062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581025" y="4021931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2235398" y="4021931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4992885" y="4021931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7750373" y="4021931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9404746" y="4021931"/>
            <a:ext cx="22062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581025" y="4726781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2235398" y="4726781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4992885" y="4726781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7750373" y="4726781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9404746" y="4726781"/>
            <a:ext cx="22062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581025" y="5431631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2235398" y="5431631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4992885" y="5431631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7750373" y="5431631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9404746" y="5431631"/>
            <a:ext cx="22062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0" name="Google Shape;21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867025"/>
            <a:ext cx="5048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571875"/>
            <a:ext cx="4191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276725"/>
            <a:ext cx="4286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4981575"/>
            <a:ext cx="6286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9"/>
          <p:cNvSpPr txBox="1"/>
          <p:nvPr/>
        </p:nvSpPr>
        <p:spPr>
          <a:xfrm>
            <a:off x="957262" y="485775"/>
            <a:ext cx="11186398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Endpoints REST y Semántica</a:t>
            </a:r>
            <a:endParaRPr/>
          </a:p>
        </p:txBody>
      </p:sp>
      <p:sp>
        <p:nvSpPr>
          <p:cNvPr id="215" name="Google Shape;215;p19"/>
          <p:cNvSpPr/>
          <p:nvPr/>
        </p:nvSpPr>
        <p:spPr>
          <a:xfrm>
            <a:off x="581025" y="971550"/>
            <a:ext cx="58435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645074"/>
            <a:ext cx="5324475" cy="62478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 txBox="1"/>
          <p:nvPr/>
        </p:nvSpPr>
        <p:spPr>
          <a:xfrm>
            <a:off x="957262" y="485775"/>
            <a:ext cx="5195649" cy="971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Gateway Centralizado de Rutas</a:t>
            </a:r>
            <a:endParaRPr/>
          </a:p>
        </p:txBody>
      </p:sp>
      <p:pic>
        <p:nvPicPr>
          <p:cNvPr descr="image.png" id="223" name="Google Shape;22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9525"/>
            <a:ext cx="589597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838200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581025" y="2959744"/>
            <a:ext cx="532447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Para desacoplar el acceso externo de la infraestructura interna de microservicios, se implementó un </a:t>
            </a:r>
            <a:r>
              <a:rPr b="1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API Gateway (Spring Cloud Gateway)</a:t>
            </a: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581025" y="3668166"/>
            <a:ext cx="5324475" cy="786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Este componente centraliza los puntos de acceso, gestiona prefijos únicos de ruta (e.g. /api/pacientes/**), y facilita la incorporación de filtros básicos para validación, loggeo y balanceo de carga entre instancias.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42244"/>
            <a:ext cx="5324475" cy="3097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242244"/>
            <a:ext cx="5324475" cy="3097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4259460"/>
            <a:ext cx="4733925" cy="7847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4099619"/>
            <a:ext cx="4733925" cy="944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595312"/>
            <a:ext cx="3286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1133475" y="2537519"/>
            <a:ext cx="47005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Declaración con Feign Client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876300" y="3198465"/>
            <a:ext cx="47339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SaludPlus utiliza clientes HTTP declarativos (Feign Client) para automatizar el intercambio de datos estructurados entre microservicios sin acoplar código rígido de llamadas.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6858000" y="2537519"/>
            <a:ext cx="46805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Tolerancia a Fallos Remotos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6581775" y="3118544"/>
            <a:ext cx="47339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Las llamadas remotas en SaludPlus se robustecen mediante el control y captura de excepciones específicas de comunicación (como fallos de socket o HTTP 5xx remotos), garantizando resiliencia del sistema.</a:t>
            </a:r>
            <a:endParaRPr/>
          </a:p>
        </p:txBody>
      </p:sp>
      <p:pic>
        <p:nvPicPr>
          <p:cNvPr descr="image.png" id="241" name="Google Shape;241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6300" y="2589907"/>
            <a:ext cx="161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2589907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 txBox="1"/>
          <p:nvPr/>
        </p:nvSpPr>
        <p:spPr>
          <a:xfrm>
            <a:off x="1023937" y="485775"/>
            <a:ext cx="11116389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Comunicación Inter-Servicios</a:t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581025" y="971550"/>
            <a:ext cx="53768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81200"/>
            <a:ext cx="53244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595312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 txBox="1"/>
          <p:nvPr/>
        </p:nvSpPr>
        <p:spPr>
          <a:xfrm>
            <a:off x="581025" y="2338387"/>
            <a:ext cx="5324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Estrategia de Pruebas de Calidad:</a:t>
            </a:r>
            <a:endParaRPr/>
          </a:p>
        </p:txBody>
      </p:sp>
      <p:pic>
        <p:nvPicPr>
          <p:cNvPr descr="image.png" id="253" name="Google Shape;25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981200"/>
            <a:ext cx="42576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 txBox="1"/>
          <p:nvPr/>
        </p:nvSpPr>
        <p:spPr>
          <a:xfrm>
            <a:off x="1009650" y="2786062"/>
            <a:ext cx="48958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Aislamiento de Componentes: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Uso estricto de Mockito para simular la persistencia real, aislando de forma completa el comportamiento lógico de la capa de servicios.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1009650" y="3748087"/>
            <a:ext cx="48958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Estructuración Given-When-Then: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Pruebas claras que preparan el escenario, ejecutan la acción del servicio y evalúan el resultado con asserts rigurosos.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1009650" y="4710112"/>
            <a:ext cx="4895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Estado Exitoso de Defensa: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Pruebas unitarias preparadas y listas para ejecución antes del despliegue final en producción.</a:t>
            </a:r>
            <a:endParaRPr/>
          </a:p>
        </p:txBody>
      </p:sp>
      <p:pic>
        <p:nvPicPr>
          <p:cNvPr descr="image.png" id="257" name="Google Shape;25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27955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37576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4719637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2"/>
          <p:cNvSpPr txBox="1"/>
          <p:nvPr/>
        </p:nvSpPr>
        <p:spPr>
          <a:xfrm>
            <a:off x="957262" y="485775"/>
            <a:ext cx="11186398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Pruebas Unitarias con JUnit</a:t>
            </a:r>
            <a:endParaRPr/>
          </a:p>
        </p:txBody>
      </p:sp>
      <p:sp>
        <p:nvSpPr>
          <p:cNvPr id="261" name="Google Shape;261;p22"/>
          <p:cNvSpPr/>
          <p:nvPr/>
        </p:nvSpPr>
        <p:spPr>
          <a:xfrm>
            <a:off x="581025" y="971550"/>
            <a:ext cx="5867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03102"/>
            <a:ext cx="5324475" cy="3175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203102"/>
            <a:ext cx="5324475" cy="3175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4618583"/>
            <a:ext cx="4733925" cy="4647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4298602"/>
            <a:ext cx="4733925" cy="7847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595312"/>
            <a:ext cx="3000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3"/>
          <p:cNvSpPr txBox="1"/>
          <p:nvPr/>
        </p:nvSpPr>
        <p:spPr>
          <a:xfrm>
            <a:off x="1238250" y="2498377"/>
            <a:ext cx="459057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Integración de Springdoc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876300" y="3348930"/>
            <a:ext cx="473392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incorporó en SaludPlus la dependencia springdoc-openapi-starter-webmvc-ui para autogenerar la especificación técnica en base a la metadata de controladores y DTOs.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6886575" y="2498377"/>
            <a:ext cx="465058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Swagger UI Interactiva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6581775" y="3079402"/>
            <a:ext cx="4733925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documentación interactiva en /swagger-ui.html expone de forma visual todos los contratos REST de SaludPlus, detallando descripciones funcionales, parámetros aceptados y esquemas JSON reales de entrada/salida.</a:t>
            </a:r>
            <a:endParaRPr/>
          </a:p>
        </p:txBody>
      </p:sp>
      <p:pic>
        <p:nvPicPr>
          <p:cNvPr descr="image.png" id="276" name="Google Shape;276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6300" y="2550765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255076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3"/>
          <p:cNvSpPr txBox="1"/>
          <p:nvPr/>
        </p:nvSpPr>
        <p:spPr>
          <a:xfrm>
            <a:off x="995362" y="485775"/>
            <a:ext cx="11146393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Documentación con OpenAPI</a:t>
            </a:r>
            <a:endParaRPr/>
          </a:p>
        </p:txBody>
      </p:sp>
      <p:sp>
        <p:nvSpPr>
          <p:cNvPr id="279" name="Google Shape;279;p23"/>
          <p:cNvSpPr/>
          <p:nvPr/>
        </p:nvSpPr>
        <p:spPr>
          <a:xfrm>
            <a:off x="581025" y="971550"/>
            <a:ext cx="5581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4" name="Google Shape;28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4"/>
          <p:cNvSpPr txBox="1"/>
          <p:nvPr/>
        </p:nvSpPr>
        <p:spPr>
          <a:xfrm>
            <a:off x="305276" y="2219325"/>
            <a:ext cx="11581447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¿Preguntas o </a:t>
            </a:r>
            <a:r>
              <a:rPr b="1" i="0" lang="en-US" sz="5400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Dudas</a:t>
            </a:r>
            <a:r>
              <a:rPr b="1" i="0" lang="en-US" sz="5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581025" y="347662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Gracias por su atención en la defensa técnica de SaludPlus</a:t>
            </a:r>
            <a:endParaRPr/>
          </a:p>
        </p:txBody>
      </p:sp>
      <p:pic>
        <p:nvPicPr>
          <p:cNvPr descr="image.png" id="287" name="Google Shape;28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7525" y="4152900"/>
            <a:ext cx="6076950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4"/>
          <p:cNvSpPr txBox="1"/>
          <p:nvPr/>
        </p:nvSpPr>
        <p:spPr>
          <a:xfrm>
            <a:off x="3448050" y="4305300"/>
            <a:ext cx="2667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Arquitectura: CSR / Microservicios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6400800" y="4305300"/>
            <a:ext cx="23431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github.com/SAAB85/SaludPlus</a:t>
            </a:r>
            <a:endParaRPr/>
          </a:p>
        </p:txBody>
      </p:sp>
      <p:pic>
        <p:nvPicPr>
          <p:cNvPr descr="image.png" id="290" name="Google Shape;29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8050" y="432435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324350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6" name="Google Shape;29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5"/>
          <p:cNvSpPr/>
          <p:nvPr/>
        </p:nvSpPr>
        <p:spPr>
          <a:xfrm>
            <a:off x="581025" y="3024187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581025" y="37861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581025" y="37861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0" name="Google Shape;30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1670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5"/>
          <p:cNvSpPr txBox="1"/>
          <p:nvPr/>
        </p:nvSpPr>
        <p:spPr>
          <a:xfrm>
            <a:off x="1676400" y="3174206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https://docpulse.com/wp-content/uploads/2023/09/Clinic-Management-System_-Way-to-Digital-Healthcare.jpg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1676400" y="3407568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docpulse.com</a:t>
            </a:r>
            <a:endParaRPr/>
          </a:p>
        </p:txBody>
      </p:sp>
      <p:pic>
        <p:nvPicPr>
          <p:cNvPr descr="image.png" id="303" name="Google Shape;30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9385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5"/>
          <p:cNvSpPr txBox="1"/>
          <p:nvPr/>
        </p:nvSpPr>
        <p:spPr>
          <a:xfrm>
            <a:off x="1676400" y="3945731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https://www.inflectra.com/GraphicsViewer.aspx?url=~/Ideas/Topics/Software-Quality-Assurance.doc&amp;name=wordml://03000004.png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1676400" y="4179093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www.inflectra.com</a:t>
            </a:r>
            <a:endParaRPr/>
          </a:p>
        </p:txBody>
      </p:sp>
      <p:sp>
        <p:nvSpPr>
          <p:cNvPr id="306" name="Google Shape;306;p25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07" name="Google Shape;307;p25"/>
          <p:cNvSpPr/>
          <p:nvPr/>
        </p:nvSpPr>
        <p:spPr>
          <a:xfrm>
            <a:off x="581025" y="971550"/>
            <a:ext cx="83391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